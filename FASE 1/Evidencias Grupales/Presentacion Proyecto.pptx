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4" roundtripDataSignature="AMtx7mhy5foxH6V2YJ65USvTNIiJr8iP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52E8AA3-8D7A-40D5-8183-264284D6457B}">
  <a:tblStyle styleId="{052E8AA3-8D7A-40D5-8183-264284D6457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635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238D0FE9-9ACE-4C88-B904-46F714338E9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customschemas.google.com/relationships/presentationmetadata" Target="meta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a1308ac2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3fa1308ac2f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fa9677184a_3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fa9677184a_3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a9677184a_3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fa9677184a_3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a9677184a_3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fa9677184a_3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a9677184a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fa9677184a_3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8"/>
          <p:cNvSpPr txBox="1"/>
          <p:nvPr>
            <p:ph type="title"/>
          </p:nvPr>
        </p:nvSpPr>
        <p:spPr>
          <a:xfrm>
            <a:off x="831850" y="1709738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" type="body"/>
          </p:nvPr>
        </p:nvSpPr>
        <p:spPr>
          <a:xfrm>
            <a:off x="831850" y="4589463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8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2" type="body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0"/>
          <p:cNvSpPr txBox="1"/>
          <p:nvPr>
            <p:ph type="title"/>
          </p:nvPr>
        </p:nvSpPr>
        <p:spPr>
          <a:xfrm>
            <a:off x="839788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0"/>
          <p:cNvSpPr txBox="1"/>
          <p:nvPr>
            <p:ph idx="1" type="body"/>
          </p:nvPr>
        </p:nvSpPr>
        <p:spPr>
          <a:xfrm>
            <a:off x="839788" y="1681163"/>
            <a:ext cx="51579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0"/>
          <p:cNvSpPr txBox="1"/>
          <p:nvPr>
            <p:ph idx="2" type="body"/>
          </p:nvPr>
        </p:nvSpPr>
        <p:spPr>
          <a:xfrm>
            <a:off x="839788" y="2505075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3" type="body"/>
          </p:nvPr>
        </p:nvSpPr>
        <p:spPr>
          <a:xfrm>
            <a:off x="6172200" y="1681163"/>
            <a:ext cx="51831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0"/>
          <p:cNvSpPr txBox="1"/>
          <p:nvPr>
            <p:ph idx="4" type="body"/>
          </p:nvPr>
        </p:nvSpPr>
        <p:spPr>
          <a:xfrm>
            <a:off x="6172200" y="2505075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839788" y="457200"/>
            <a:ext cx="39321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5183188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839788" y="2057400"/>
            <a:ext cx="39321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7133400" y="1956625"/>
            <a:ext cx="58119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1799400" y="-596075"/>
            <a:ext cx="5811900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5.png"/><Relationship Id="rId5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9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9.png"/><Relationship Id="rId7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7.png"/><Relationship Id="rId5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407886" y="1398133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Presentación Portafolio Titulo</a:t>
            </a:r>
            <a:br>
              <a:rPr lang="es-CL"/>
            </a:br>
            <a:r>
              <a:rPr lang="es-CL" sz="3200"/>
              <a:t>“</a:t>
            </a:r>
            <a:r>
              <a:rPr lang="es-CL" sz="3200"/>
              <a:t>FriendlyPets</a:t>
            </a:r>
            <a:r>
              <a:rPr lang="es-CL" sz="3200"/>
              <a:t>”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3562999"/>
            <a:ext cx="9144000" cy="16208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s-CL" sz="3200"/>
              <a:t>Ingeniería Informática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Escuela de Informática y Telecomunicaciones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Sede Puente Alto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s-CL" sz="1400"/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/>
        </p:nvSpPr>
        <p:spPr>
          <a:xfrm>
            <a:off x="105502" y="668716"/>
            <a:ext cx="29937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1" name="Google Shape;91;p2"/>
          <p:cNvGrpSpPr/>
          <p:nvPr/>
        </p:nvGrpSpPr>
        <p:grpSpPr>
          <a:xfrm>
            <a:off x="3371023" y="925224"/>
            <a:ext cx="8581433" cy="5742095"/>
            <a:chOff x="4082926" y="1382434"/>
            <a:chExt cx="6781061" cy="5742095"/>
          </a:xfrm>
        </p:grpSpPr>
        <p:sp>
          <p:nvSpPr>
            <p:cNvPr id="92" name="Google Shape;92;p2"/>
            <p:cNvSpPr/>
            <p:nvPr/>
          </p:nvSpPr>
          <p:spPr>
            <a:xfrm>
              <a:off x="4082926" y="1382434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2"/>
            <p:cNvSpPr txBox="1"/>
            <p:nvPr/>
          </p:nvSpPr>
          <p:spPr>
            <a:xfrm>
              <a:off x="5545878" y="1382434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Francisco Gonzalez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Pruebas automatizadas (Vitest), flujos UAT y aseguramiento.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4189675" y="1489183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4082926" y="2556677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2"/>
            <p:cNvSpPr txBox="1"/>
            <p:nvPr/>
          </p:nvSpPr>
          <p:spPr>
            <a:xfrm>
              <a:off x="5545878" y="2556677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Francisco Lobos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Desarrollo web full-stack, lógica de negocio y APIs REST.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189675" y="2663426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4082926" y="3730921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5545887" y="3730910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Juan Miranda</a:t>
              </a:r>
              <a:endParaRPr/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</a:t>
              </a:r>
              <a:r>
                <a:rPr lang="es-CL" sz="16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Supervisión de cronograma, presupuesto y enlaces directivos.</a:t>
              </a:r>
              <a:endParaRPr/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4189675" y="3837670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4082926" y="4905164"/>
              <a:ext cx="6780900" cy="1067400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5D7FC9"/>
                </a:gs>
                <a:gs pos="50000">
                  <a:srgbClr val="3A6EC9"/>
                </a:gs>
                <a:gs pos="100000">
                  <a:srgbClr val="2C5EB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2"/>
            <p:cNvSpPr txBox="1"/>
            <p:nvPr/>
          </p:nvSpPr>
          <p:spPr>
            <a:xfrm>
              <a:off x="5545878" y="4905164"/>
              <a:ext cx="5318100" cy="106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0000" lIns="80000" spcFirstLastPara="1" rIns="80000" wrap="square" tIns="800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100"/>
                <a:buFont typeface="Calibri"/>
                <a:buNone/>
              </a:pPr>
              <a:r>
                <a:rPr lang="es-CL" sz="2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Matias Pizarro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71450" lvl="1" marL="171450" marR="0" rtl="0" algn="l">
                <a:lnSpc>
                  <a:spcPct val="90000"/>
                </a:lnSpc>
                <a:spcBef>
                  <a:spcPts val="24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Calibri"/>
                <a:buChar char="•"/>
              </a:pPr>
              <a:r>
                <a:rPr b="0" i="0" lang="es-CL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Funciones desempeñadas: Diseño relacional PostgreSQL, ORM e integridad de datos.</a:t>
              </a:r>
              <a:endParaRPr b="0" i="0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2"/>
            <p:cNvSpPr/>
            <p:nvPr/>
          </p:nvSpPr>
          <p:spPr>
            <a:xfrm>
              <a:off x="4189675" y="5011914"/>
              <a:ext cx="1356300" cy="854100"/>
            </a:xfrm>
            <a:prstGeom prst="roundRect">
              <a:avLst>
                <a:gd fmla="val 10000" name="adj"/>
              </a:avLst>
            </a:prstGeom>
            <a:solidFill>
              <a:srgbClr val="BCC5E4"/>
            </a:solidFill>
            <a:ln>
              <a:noFill/>
            </a:ln>
            <a:effectLst>
              <a:outerShdw blurRad="57150" rotWithShape="0" algn="ctr" dir="5400000" dist="19050">
                <a:srgbClr val="000000">
                  <a:alpha val="63137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4" name="Google Shape;104;p2"/>
            <p:cNvGrpSpPr/>
            <p:nvPr/>
          </p:nvGrpSpPr>
          <p:grpSpPr>
            <a:xfrm>
              <a:off x="4082926" y="6057129"/>
              <a:ext cx="6781052" cy="1067400"/>
              <a:chOff x="0" y="3522730"/>
              <a:chExt cx="6781052" cy="1067400"/>
            </a:xfrm>
          </p:grpSpPr>
          <p:sp>
            <p:nvSpPr>
              <p:cNvPr id="105" name="Google Shape;105;p2"/>
              <p:cNvSpPr/>
              <p:nvPr/>
            </p:nvSpPr>
            <p:spPr>
              <a:xfrm>
                <a:off x="0" y="3522730"/>
                <a:ext cx="6780900" cy="1067400"/>
              </a:xfrm>
              <a:prstGeom prst="roundRect">
                <a:avLst>
                  <a:gd fmla="val 10000" name="adj"/>
                </a:avLst>
              </a:prstGeom>
              <a:gradFill>
                <a:gsLst>
                  <a:gs pos="0">
                    <a:srgbClr val="5D7FC9"/>
                  </a:gs>
                  <a:gs pos="50000">
                    <a:srgbClr val="3A6EC9"/>
                  </a:gs>
                  <a:gs pos="100000">
                    <a:srgbClr val="2C5EB8"/>
                  </a:gs>
                </a:gsLst>
                <a:lin ang="5400012" scaled="0"/>
              </a:grad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314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2"/>
              <p:cNvSpPr txBox="1"/>
              <p:nvPr/>
            </p:nvSpPr>
            <p:spPr>
              <a:xfrm>
                <a:off x="1462952" y="3522730"/>
                <a:ext cx="5318100" cy="1067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0000" lIns="80000" spcFirstLastPara="1" rIns="80000" wrap="square" tIns="80000">
                <a:noAutofit/>
              </a:bodyPr>
              <a:lstStyle/>
              <a:p>
                <a:pPr indent="0" lvl="0" marL="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2100"/>
                  <a:buFont typeface="Calibri"/>
                  <a:buNone/>
                </a:pPr>
                <a:r>
                  <a:rPr lang="es-CL" sz="21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Enrique Sanchez</a:t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171450" lvl="1" marL="171450" marR="0" rtl="0" algn="l">
                  <a:lnSpc>
                    <a:spcPct val="90000"/>
                  </a:lnSpc>
                  <a:spcBef>
                    <a:spcPts val="240"/>
                  </a:spcBef>
                  <a:spcAft>
                    <a:spcPts val="0"/>
                  </a:spcAft>
                  <a:buClr>
                    <a:schemeClr val="lt1"/>
                  </a:buClr>
                  <a:buSzPts val="1600"/>
                  <a:buFont typeface="Calibri"/>
                  <a:buChar char="•"/>
                </a:pPr>
                <a:r>
                  <a:rPr b="0" i="0" lang="es-CL" sz="1600" u="none" cap="none" strike="noStrike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Funciones desempeñadas: Maquetación responsiva, flujos de experiencia y prototipado.</a:t>
                </a:r>
                <a:endParaRPr b="0" i="0" sz="16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106749" y="3629480"/>
                <a:ext cx="1356300" cy="854100"/>
              </a:xfrm>
              <a:prstGeom prst="roundRect">
                <a:avLst>
                  <a:gd fmla="val 10000" name="adj"/>
                </a:avLst>
              </a:prstGeom>
              <a:solidFill>
                <a:srgbClr val="BCC5E4"/>
              </a:solidFill>
              <a:ln>
                <a:noFill/>
              </a:ln>
              <a:effectLst>
                <a:outerShdw blurRad="57150" rotWithShape="0" algn="ctr" dir="5400000" dist="19050">
                  <a:srgbClr val="000000">
                    <a:alpha val="63140"/>
                  </a:srgb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08" name="Google Shape;108;p2"/>
          <p:cNvSpPr txBox="1"/>
          <p:nvPr/>
        </p:nvSpPr>
        <p:spPr>
          <a:xfrm>
            <a:off x="6780800" y="3306750"/>
            <a:ext cx="3000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1" marL="17145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Cargo: Jefe de Proyecto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7025250" y="2084425"/>
            <a:ext cx="3000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1" marL="17145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Cargo: Analista Programador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7359800" y="925225"/>
            <a:ext cx="3000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1" marL="17145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Cargo: Calidad y Testing (QA)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6909475" y="4439050"/>
            <a:ext cx="3000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1" marL="17145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Cargo: Administrador BD (DBA)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7128200" y="5571350"/>
            <a:ext cx="3000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171450" lvl="1" marL="171450" rtl="0" algn="l">
              <a:lnSpc>
                <a:spcPct val="90000"/>
              </a:lnSpc>
              <a:spcBef>
                <a:spcPts val="735"/>
              </a:spcBef>
              <a:spcAft>
                <a:spcPts val="0"/>
              </a:spcAft>
              <a:buClr>
                <a:schemeClr val="lt1"/>
              </a:buClr>
              <a:buSzPts val="1600"/>
              <a:buFont typeface="Calibri"/>
              <a:buChar char="•"/>
            </a:pPr>
            <a:r>
              <a:rPr lang="es-CL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Cargo: Diseñador UI/UX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725659" y="1110713"/>
            <a:ext cx="10515600" cy="7180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Descripción del Proyecto</a:t>
            </a:r>
            <a:endParaRPr/>
          </a:p>
        </p:txBody>
      </p:sp>
      <p:sp>
        <p:nvSpPr>
          <p:cNvPr id="118" name="Google Shape;118;p3"/>
          <p:cNvSpPr/>
          <p:nvPr/>
        </p:nvSpPr>
        <p:spPr>
          <a:xfrm>
            <a:off x="228150" y="2169775"/>
            <a:ext cx="4914300" cy="43965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8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Problemática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ausencia de una plataforma centralizada operativa genera graves deficiencias en el servicio a domicilio: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Descoordinación en la asignación y agendamiento de visitas médicas.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Pérdida de trazabilidad de fármacos e insumos transportados a terreno.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Registros clínicos manuales, generando historiales médicos fragmentados.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Descuadres financieros por cálculos manuales de tarifas de traslado.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AutoNum type="arabicPeriod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Ausencia absoluta de métricas para la toma de decisiones gerenciales.</a:t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6912075" y="2177325"/>
            <a:ext cx="4641300" cy="4396500"/>
          </a:xfrm>
          <a:prstGeom prst="roundRect">
            <a:avLst>
              <a:gd fmla="val 10901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Propuesta de solución</a:t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Desarrollo de una plataforma web integral bajo arquitectura por capas estructurada en dos aplicaciones: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Principal (Terreno): Centraliza el agendamiento, fichas clínicas digitales, descuento de stock en tiempo real y pasarela de pago.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175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Char char="●"/>
            </a:pPr>
            <a:r>
              <a:rPr lang="es-CL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Aplicación Secundaria (Dashboard): Módulo administrativo para gestionar catálogos, configurar zonas/tarifas y visualizar reportes estratégicos.</a:t>
            </a:r>
            <a:endParaRPr sz="28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456903" y="3736258"/>
            <a:ext cx="1140542" cy="757084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12700">
            <a:solidFill>
              <a:srgbClr val="264159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614515" y="2040571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arrollar una plataforma web integral (aplicación principal para operación en terreno y aplicación secundaria para administración) que centralice, optimice y digitalice el servicio veterinario a domicilio de Clínica FriendlyPets LTDA.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14514" y="4732407"/>
            <a:ext cx="10962967" cy="1575221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Expandir cobertura: Habilitar un canal digital para captar y agendar atenciones en diversas comunas.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Optimizar logística: Reducir tiempos de coordinación y asignar rutas eficientes.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de inventario: Asegurar trazabilidad de fármacos e insumos en tiempo real.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Mejorar finanzas: Automatizar cálculo de tarifas y procesar pagos electrónicos.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Fidelización: Mejorar la experiencia del tutor con fichas digitales y notificaciones por correo.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/>
        </p:nvSpPr>
        <p:spPr>
          <a:xfrm>
            <a:off x="152400" y="1197198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152400" y="4009875"/>
            <a:ext cx="1193800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Específicos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"/>
          <p:cNvSpPr txBox="1"/>
          <p:nvPr>
            <p:ph type="title"/>
          </p:nvPr>
        </p:nvSpPr>
        <p:spPr>
          <a:xfrm>
            <a:off x="810065" y="809447"/>
            <a:ext cx="10515600" cy="750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Alcances</a:t>
            </a:r>
            <a:endParaRPr/>
          </a:p>
        </p:txBody>
      </p:sp>
      <p:sp>
        <p:nvSpPr>
          <p:cNvPr id="134" name="Google Shape;134;p5"/>
          <p:cNvSpPr txBox="1"/>
          <p:nvPr/>
        </p:nvSpPr>
        <p:spPr>
          <a:xfrm>
            <a:off x="914374" y="1664801"/>
            <a:ext cx="100728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 hace el Sistema:</a:t>
            </a:r>
            <a:endParaRPr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Autenticación de usuarios por roles.</a:t>
            </a:r>
            <a:endParaRPr sz="18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​Agendamiento y asignación de visitas domiciliarias por zona.</a:t>
            </a:r>
            <a:endParaRPr sz="18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​Registro de fichas clínicas digitales en terreno.</a:t>
            </a:r>
            <a:endParaRPr sz="18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​Descuento automático de inventario (fármacos/vacunas) al registrar atención.</a:t>
            </a:r>
            <a:endParaRPr sz="18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​Cálculo automatizado de liquidación (tarifa base + insumos).</a:t>
            </a:r>
            <a:endParaRPr sz="18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​Procesamiento de pagos electrónicos (API REST).</a:t>
            </a:r>
            <a:endParaRPr sz="18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​Envío automático de recetas/informes médicos por correo.</a:t>
            </a:r>
            <a:endParaRPr sz="18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​Generación de reportes operativos (exportables a PDF/XLS).</a:t>
            </a:r>
            <a:endParaRPr sz="18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​Mantenedores de catálogos (insumos, aranceles, zonas).</a:t>
            </a:r>
            <a:endParaRPr sz="18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Qué no hace:</a:t>
            </a:r>
            <a:endParaRPr/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utiliza dispositivos o hardware propietario (100% Web).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procesa pagos por fuera de Mercado Pago.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soporta entornos Offline sin sincronización posterior.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Prohibido el uso de SQL en texto plano (Requiere ORM).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 admite librerías sin cuarentena y auditoría estricta.</a:t>
            </a:r>
            <a:endParaRPr sz="18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Roles/Usuarios</a:t>
            </a: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839475" y="1923150"/>
            <a:ext cx="10365600" cy="44739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general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administrativo financiero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Directora clínica veterinaria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Gerente de operaciones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Jefe de tecnología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Colaborador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Encargado de farmacia e insumos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Recepcionista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Atención al Cliente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Veterinario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Médico veterinario en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clínica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Médico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veterinario a domicilio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Tutor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○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Dueño de mascota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"/>
          <p:cNvSpPr txBox="1"/>
          <p:nvPr>
            <p:ph type="title"/>
          </p:nvPr>
        </p:nvSpPr>
        <p:spPr>
          <a:xfrm>
            <a:off x="841416" y="1054442"/>
            <a:ext cx="10515600" cy="75258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Funcionales</a:t>
            </a:r>
            <a:endParaRPr/>
          </a:p>
        </p:txBody>
      </p:sp>
      <p:sp>
        <p:nvSpPr>
          <p:cNvPr id="146" name="Google Shape;146;p7"/>
          <p:cNvSpPr/>
          <p:nvPr/>
        </p:nvSpPr>
        <p:spPr>
          <a:xfrm>
            <a:off x="839475" y="1923150"/>
            <a:ext cx="11041800" cy="48330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RF.1 Autenticar usuarios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RF.2 Gestionar fichas clínicas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RF.3 Gestionar historial de atenciones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RF.4 Gestionar </a:t>
            </a: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diagnósticos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RF.5 Gestionar agendamiento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RF.6 Gestionar atenciones médicas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RF.7 Gestionar liquidación del servicio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RF.8 Realizar pago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RF.9 Enviar notificaciones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RF.10 Enviar Correo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RF.11 Generar reportes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RF.12 Gestionar medicamentos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RF.13 Gestionar insumos Clínicos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RF.14 Gestionar comunas y sectores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RF.15 Gestionar servicios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 txBox="1"/>
          <p:nvPr/>
        </p:nvSpPr>
        <p:spPr>
          <a:xfrm>
            <a:off x="5435950" y="2113750"/>
            <a:ext cx="6134700" cy="40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RF.16 Gestionar especies y razas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RF.17 Gestionar motivos de consulta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RF.18 Gestionar horarios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RF.19 Gestionar disponibilidad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RF.20 Gestionar clinica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RF.21 Gestionar colaboradores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RF.22 Gestionar usuarios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RF.23 Gestionar veterinarios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RF.24 Gestionar tutor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RF.25 Gestionar mascotas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RF.26 Gestionar roles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RF.27 Comunicar con sistema de correos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RF.28 Comunicar con sistema de pagos (Mercado Pago)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RF.29 Comunicar con sistema de autenticación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fa1308ac2f_0_0"/>
          <p:cNvSpPr txBox="1"/>
          <p:nvPr>
            <p:ph type="title"/>
          </p:nvPr>
        </p:nvSpPr>
        <p:spPr>
          <a:xfrm>
            <a:off x="841416" y="1054442"/>
            <a:ext cx="10515600" cy="75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/>
              <a:t>Lista de Requerimientos No Funcionales</a:t>
            </a:r>
            <a:endParaRPr/>
          </a:p>
        </p:txBody>
      </p:sp>
      <p:sp>
        <p:nvSpPr>
          <p:cNvPr id="153" name="Google Shape;153;g3fa1308ac2f_0_0"/>
          <p:cNvSpPr/>
          <p:nvPr/>
        </p:nvSpPr>
        <p:spPr>
          <a:xfrm>
            <a:off x="839474" y="1923150"/>
            <a:ext cx="11041800" cy="43326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RNF.1 Validar formularios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RNF.2 Modelo arquitectónico de capas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RNF.3 Lenguaje orientado a Objetos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RNF.4 Seguridad y encriptación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RNF.5 Integración de servicios REST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RNF.6 Interfaz responsiva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RNF.7 Sincronización de datos en la nube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RNF.8 Sistema debe ser intuitivo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RNF.9 El sistema debe ser rápido y eficiente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RNF.10 El sistema debe ser construido modularmente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RNF.11 El sistema debe tener un rendimiento optimo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RNF.12 El sistema debe contar con respaldo de la información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fa1308ac2f_0_0"/>
          <p:cNvSpPr txBox="1"/>
          <p:nvPr/>
        </p:nvSpPr>
        <p:spPr>
          <a:xfrm>
            <a:off x="6989025" y="2196150"/>
            <a:ext cx="4640100" cy="378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RNF.13 La infraestructura debe ser escalable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RNF.14 Disponibilidad de las APIs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RNF.15 Sincronización y Modo Offline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RNF.16 Persistencia mediante ORM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RNF.17 Contenedorización de la Infraestructura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RNF.18 Seguridad en cadena de dependencias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RNF.19 Pruebas Automatizadas (QA)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RNF.20 Optimización de Renderizado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RNF.21 Logo Clinica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RNF.22 Imagenes de mascotas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RNF.23 Roles definidos por clinica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RNF.24 Siglas definidas por clinica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9"/>
          <p:cNvSpPr txBox="1"/>
          <p:nvPr>
            <p:ph type="title"/>
          </p:nvPr>
        </p:nvSpPr>
        <p:spPr>
          <a:xfrm>
            <a:off x="181777" y="789486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pic>
        <p:nvPicPr>
          <p:cNvPr id="160" name="Google Shape;160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950" y="1745621"/>
            <a:ext cx="6346125" cy="452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07350" y="980375"/>
            <a:ext cx="3947850" cy="2786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28377" y="3977799"/>
            <a:ext cx="3905789" cy="277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9677184a_3_3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68" name="Google Shape;168;g3fa9677184a_3_3"/>
          <p:cNvSpPr txBox="1"/>
          <p:nvPr/>
        </p:nvSpPr>
        <p:spPr>
          <a:xfrm>
            <a:off x="757367" y="1848356"/>
            <a:ext cx="9990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g3fa9677184a_3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050" y="1743547"/>
            <a:ext cx="5943374" cy="4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g3fa9677184a_3_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3226" y="818381"/>
            <a:ext cx="4176002" cy="295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g3fa9677184a_3_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23222" y="3950375"/>
            <a:ext cx="3972776" cy="279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fa9677184a_3_26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pic>
        <p:nvPicPr>
          <p:cNvPr id="177" name="Google Shape;177;g3fa9677184a_3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41702"/>
            <a:ext cx="4952151" cy="350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3fa9677184a_3_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71626" y="1741711"/>
            <a:ext cx="6305550" cy="445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fa9677184a_3_16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84" name="Google Shape;184;g3fa9677184a_3_16"/>
          <p:cNvSpPr txBox="1"/>
          <p:nvPr/>
        </p:nvSpPr>
        <p:spPr>
          <a:xfrm>
            <a:off x="757367" y="1848356"/>
            <a:ext cx="9990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5" name="Google Shape;185;g3fa9677184a_3_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1300" y="1945588"/>
            <a:ext cx="1876425" cy="403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g3fa9677184a_3_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26288" y="1951888"/>
            <a:ext cx="1876425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g3fa9677184a_3_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1288" y="1923338"/>
            <a:ext cx="1876425" cy="407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g3fa9677184a_3_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56300" y="1937638"/>
            <a:ext cx="1866900" cy="4048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g3fa9677184a_3_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271300" y="1848350"/>
            <a:ext cx="186690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"/>
          <p:cNvSpPr txBox="1"/>
          <p:nvPr>
            <p:ph type="title"/>
          </p:nvPr>
        </p:nvSpPr>
        <p:spPr>
          <a:xfrm>
            <a:off x="641252" y="1068511"/>
            <a:ext cx="10515600" cy="5208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757367" y="1848356"/>
            <a:ext cx="9990462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6" name="Google Shape;196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175" y="1712925"/>
            <a:ext cx="1828800" cy="401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43763" y="1693875"/>
            <a:ext cx="1876425" cy="405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9625" y="1848350"/>
            <a:ext cx="1885950" cy="331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fa9677184a_3_11"/>
          <p:cNvSpPr txBox="1"/>
          <p:nvPr>
            <p:ph type="title"/>
          </p:nvPr>
        </p:nvSpPr>
        <p:spPr>
          <a:xfrm>
            <a:off x="641252" y="1068511"/>
            <a:ext cx="10515600" cy="52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Mockups del Sistema</a:t>
            </a:r>
            <a:endParaRPr/>
          </a:p>
        </p:txBody>
      </p:sp>
      <p:pic>
        <p:nvPicPr>
          <p:cNvPr id="204" name="Google Shape;204;g3fa9677184a_3_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848356"/>
            <a:ext cx="4695046" cy="29501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3fa9677184a_3_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5424" y="1068502"/>
            <a:ext cx="4824575" cy="307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g3fa9677184a_3_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5421" y="4340327"/>
            <a:ext cx="3803655" cy="24093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0"/>
          <p:cNvSpPr txBox="1"/>
          <p:nvPr>
            <p:ph type="title"/>
          </p:nvPr>
        </p:nvSpPr>
        <p:spPr>
          <a:xfrm>
            <a:off x="676122" y="1677378"/>
            <a:ext cx="10515600" cy="6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Hitos Importantes </a:t>
            </a:r>
            <a:endParaRPr/>
          </a:p>
        </p:txBody>
      </p:sp>
      <p:graphicFrame>
        <p:nvGraphicFramePr>
          <p:cNvPr id="212" name="Google Shape;212;p10"/>
          <p:cNvGraphicFramePr/>
          <p:nvPr/>
        </p:nvGraphicFramePr>
        <p:xfrm>
          <a:off x="1503896" y="266672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{052E8AA3-8D7A-40D5-8183-264284D6457B}</a:tableStyleId>
              </a:tblPr>
              <a:tblGrid>
                <a:gridCol w="4302750"/>
                <a:gridCol w="2088525"/>
              </a:tblGrid>
              <a:tr h="12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Hito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 tope</a:t>
                      </a:r>
                      <a:endParaRPr b="1"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Inicio del proyecto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21-08-2026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Aprobación y firma del Acta de Constitución del proyecto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22-08-2026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Levantamiento y recopilación de requerimientos 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24-08-2026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Aprobación de requerimientos funcionales y no funcionales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29-08-2026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 interfaces y experiencia de usuario (MockUps)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02-09-2026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Diseño de la arquitectura y de la base de datos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20-09-2026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del módulo de clientes y mascotas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19-10-2026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del módulo de gestión de insumos y farmacia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24-10-2026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del módulo de búsqueda de veterinarios y atención a domicilio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30-10-2026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 de los módulos al sistema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09-11-2026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funcionales y corrección de errores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10-11-2026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de aceptación con usuarios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25-11-2026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Capacitación de usuarios FriendlyPets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14-12-2026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Implementación y puesta en producción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03-12-2026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  <a:tr h="12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Cierre formal del proyecto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2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05-12-2026</a:t>
                      </a:r>
                      <a:endParaRPr sz="12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73025" marL="73025"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>
            <p:ph type="title"/>
          </p:nvPr>
        </p:nvSpPr>
        <p:spPr>
          <a:xfrm>
            <a:off x="706567" y="901597"/>
            <a:ext cx="10515600" cy="586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Costos por Fase </a:t>
            </a:r>
            <a:endParaRPr/>
          </a:p>
        </p:txBody>
      </p:sp>
      <p:sp>
        <p:nvSpPr>
          <p:cNvPr id="218" name="Google Shape;218;p11"/>
          <p:cNvSpPr/>
          <p:nvPr/>
        </p:nvSpPr>
        <p:spPr>
          <a:xfrm>
            <a:off x="782337" y="1681843"/>
            <a:ext cx="10247613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19" name="Google Shape;219;p11"/>
          <p:cNvGraphicFramePr/>
          <p:nvPr/>
        </p:nvGraphicFramePr>
        <p:xfrm>
          <a:off x="1288409" y="2474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{238D0FE9-9ACE-4C88-B904-46F714338E97}</a:tableStyleId>
              </a:tblPr>
              <a:tblGrid>
                <a:gridCol w="4081500"/>
                <a:gridCol w="40815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Fase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Costo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Fase Planificación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$ 542.857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Fase Diseño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$1.059.524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Fase Desarrollo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$ 2.195.238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Fase Pruebas QA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$ 588.095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Cierre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$ 457.143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Total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/>
                        <a:t>$ 4.842.857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2"/>
          <p:cNvSpPr txBox="1"/>
          <p:nvPr>
            <p:ph type="title"/>
          </p:nvPr>
        </p:nvSpPr>
        <p:spPr>
          <a:xfrm>
            <a:off x="641252" y="1068511"/>
            <a:ext cx="10515600" cy="644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s-CL"/>
              <a:t>Tecnologías del Desarrollo</a:t>
            </a:r>
            <a:endParaRPr/>
          </a:p>
        </p:txBody>
      </p:sp>
      <p:sp>
        <p:nvSpPr>
          <p:cNvPr id="225" name="Google Shape;225;p12"/>
          <p:cNvSpPr txBox="1"/>
          <p:nvPr/>
        </p:nvSpPr>
        <p:spPr>
          <a:xfrm>
            <a:off x="641252" y="1828016"/>
            <a:ext cx="10861200" cy="14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Frontend/Full-stack: TanStack Start (Enrutamiento SSR, tipado estricto), React, Tailwind CSS, shadcn/ui.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​Gestión de Datos/Formularios: TanStack Form, TanStack Table, TanStack Virtual, Zustand, Zod (validación).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​Backend/Base de Datos: PostgreSQL con Drizzle ORM (tipado seguro, prevención inyecciones).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​Infraestructura/Seguridad: Clerk (Autenticación), Docker (Contenedores), Vitest (Pruebas), pnpm.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●"/>
            </a:pPr>
            <a:r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​Integraciones: Resend + React Email (Notificaciones transaccionales).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3"/>
          <p:cNvSpPr txBox="1"/>
          <p:nvPr/>
        </p:nvSpPr>
        <p:spPr>
          <a:xfrm>
            <a:off x="609558" y="699121"/>
            <a:ext cx="10515600" cy="1053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s-CL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Conclusión  </a:t>
            </a:r>
            <a:endParaRPr/>
          </a:p>
        </p:txBody>
      </p:sp>
      <p:sp>
        <p:nvSpPr>
          <p:cNvPr id="231" name="Google Shape;231;p13"/>
          <p:cNvSpPr/>
          <p:nvPr/>
        </p:nvSpPr>
        <p:spPr>
          <a:xfrm>
            <a:off x="839487" y="1923143"/>
            <a:ext cx="10365542" cy="4332514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12700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 fase inicial del proyecto FriendlyPets nos ayudó a entender de mejor manera cómo planificar un proyecto y realizar el diseño base o estructura por la que se rige un desarrollo bien realizado. Al definir con claridad aspectos fundamentales como los requerimientos, la arquitectura en capas y los costos asociados a las fases de planificación y diseño, logramos cimentar una buena base para garantizar un proyecto exitoso.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2015-07-01T15:45:01Z</dcterms:created>
  <dc:creator>Sala_</dc:creator>
</cp:coreProperties>
</file>